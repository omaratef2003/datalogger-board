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60" r:id="rId5"/>
    <p:sldId id="259" r:id="rId6"/>
    <p:sldId id="261" r:id="rId7"/>
    <p:sldId id="264" r:id="rId8"/>
    <p:sldId id="263" r:id="rId9"/>
    <p:sldId id="265" r:id="rId10"/>
  </p:sldIdLst>
  <p:sldSz cx="14630400" cy="8229600"/>
  <p:notesSz cx="8229600" cy="14630400"/>
  <p:embeddedFontLst>
    <p:embeddedFont>
      <p:font typeface="Platypi Medium" panose="020B0604020202020204" charset="0"/>
      <p:regular r:id="rId12"/>
    </p:embeddedFont>
    <p:embeddedFont>
      <p:font typeface="Source Serif 4" panose="020B0604020202020204"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0" d="100"/>
          <a:sy n="70" d="100"/>
        </p:scale>
        <p:origin x="60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19916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sv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0.xml"/><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3054429"/>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201B18"/>
                </a:solidFill>
                <a:latin typeface="Platypi Medium" pitchFamily="34" charset="0"/>
                <a:ea typeface="Platypi Medium" pitchFamily="34" charset="-122"/>
                <a:cs typeface="Platypi Medium" pitchFamily="34" charset="-120"/>
              </a:rPr>
              <a:t>MCU Datalogger PCB Board: Graduation Project</a:t>
            </a:r>
            <a:endParaRPr lang="en-US" sz="4450" dirty="0"/>
          </a:p>
        </p:txBody>
      </p:sp>
      <p:sp>
        <p:nvSpPr>
          <p:cNvPr id="4" name="Text 1"/>
          <p:cNvSpPr/>
          <p:nvPr/>
        </p:nvSpPr>
        <p:spPr>
          <a:xfrm>
            <a:off x="793790" y="4812149"/>
            <a:ext cx="7556421"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5" name="TextBox 4">
            <a:extLst>
              <a:ext uri="{FF2B5EF4-FFF2-40B4-BE49-F238E27FC236}">
                <a16:creationId xmlns:a16="http://schemas.microsoft.com/office/drawing/2014/main" id="{2D17A86E-8067-5364-0CFA-34A3133E9FB0}"/>
              </a:ext>
            </a:extLst>
          </p:cNvPr>
          <p:cNvSpPr txBox="1"/>
          <p:nvPr/>
        </p:nvSpPr>
        <p:spPr>
          <a:xfrm>
            <a:off x="152400" y="5502951"/>
            <a:ext cx="11734800" cy="830997"/>
          </a:xfrm>
          <a:prstGeom prst="rect">
            <a:avLst/>
          </a:prstGeom>
          <a:noFill/>
        </p:spPr>
        <p:txBody>
          <a:bodyPr wrap="square">
            <a:spAutoFit/>
          </a:bodyPr>
          <a:lstStyle/>
          <a:p>
            <a:pPr>
              <a:buNone/>
            </a:pPr>
            <a:r>
              <a:rPr lang="en-US" sz="2400" dirty="0">
                <a:latin typeface="Source Serif 4" panose="020B0604020202020204" charset="0"/>
                <a:ea typeface="Source Serif 4" panose="020B0604020202020204" charset="0"/>
                <a:cs typeface="Times New Roman" panose="02020603050405020304" pitchFamily="18" charset="0"/>
              </a:rPr>
              <a:t>Made By: Omar Atef</a:t>
            </a:r>
          </a:p>
          <a:p>
            <a:pPr>
              <a:buNone/>
            </a:pPr>
            <a:r>
              <a:rPr lang="en-US" sz="2400" dirty="0">
                <a:latin typeface="Source Serif 4" panose="020B0604020202020204" charset="0"/>
                <a:ea typeface="Source Serif 4" panose="020B0604020202020204" charset="0"/>
                <a:cs typeface="Times New Roman" panose="02020603050405020304" pitchFamily="18" charset="0"/>
              </a:rPr>
              <a:t>ID : 1472208251104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641812"/>
            <a:ext cx="11586210" cy="708779"/>
          </a:xfrm>
          <a:prstGeom prst="rect">
            <a:avLst/>
          </a:prstGeom>
          <a:noFill/>
          <a:ln/>
        </p:spPr>
        <p:txBody>
          <a:bodyPr wrap="none" lIns="0" tIns="0" rIns="0" bIns="0" rtlCol="0" anchor="t"/>
          <a:lstStyle/>
          <a:p>
            <a:pPr marL="0" indent="0" algn="l">
              <a:lnSpc>
                <a:spcPts val="5550"/>
              </a:lnSpc>
              <a:buNone/>
            </a:pPr>
            <a:r>
              <a:rPr lang="en-US" sz="5000" dirty="0">
                <a:solidFill>
                  <a:srgbClr val="201B18"/>
                </a:solidFill>
                <a:latin typeface="Platypi Medium" pitchFamily="34" charset="0"/>
                <a:ea typeface="Platypi Medium" pitchFamily="34" charset="-122"/>
                <a:cs typeface="Platypi Medium" pitchFamily="34" charset="-120"/>
              </a:rPr>
              <a:t>MCU Datalogger Board Main Function</a:t>
            </a:r>
            <a:endParaRPr lang="en-US" sz="5000" dirty="0"/>
          </a:p>
        </p:txBody>
      </p:sp>
      <p:sp>
        <p:nvSpPr>
          <p:cNvPr id="16" name="TextBox 15">
            <a:extLst>
              <a:ext uri="{FF2B5EF4-FFF2-40B4-BE49-F238E27FC236}">
                <a16:creationId xmlns:a16="http://schemas.microsoft.com/office/drawing/2014/main" id="{0F315AAC-BB08-FCCF-CA4A-547E99EFF307}"/>
              </a:ext>
            </a:extLst>
          </p:cNvPr>
          <p:cNvSpPr txBox="1"/>
          <p:nvPr/>
        </p:nvSpPr>
        <p:spPr>
          <a:xfrm>
            <a:off x="12866914" y="7728857"/>
            <a:ext cx="1763486" cy="500743"/>
          </a:xfrm>
          <a:prstGeom prst="rect">
            <a:avLst/>
          </a:prstGeom>
          <a:solidFill>
            <a:schemeClr val="bg1"/>
          </a:solidFill>
        </p:spPr>
        <p:txBody>
          <a:bodyPr wrap="square" rtlCol="0">
            <a:spAutoFit/>
          </a:bodyPr>
          <a:lstStyle/>
          <a:p>
            <a:endParaRPr lang="en-US" dirty="0"/>
          </a:p>
        </p:txBody>
      </p:sp>
      <p:sp>
        <p:nvSpPr>
          <p:cNvPr id="18" name="TextBox 17">
            <a:extLst>
              <a:ext uri="{FF2B5EF4-FFF2-40B4-BE49-F238E27FC236}">
                <a16:creationId xmlns:a16="http://schemas.microsoft.com/office/drawing/2014/main" id="{0B07E92F-A3FB-2415-11BB-6EEA0CC931F8}"/>
              </a:ext>
            </a:extLst>
          </p:cNvPr>
          <p:cNvSpPr txBox="1"/>
          <p:nvPr/>
        </p:nvSpPr>
        <p:spPr>
          <a:xfrm>
            <a:off x="719495" y="3492937"/>
            <a:ext cx="11734800" cy="3785652"/>
          </a:xfrm>
          <a:prstGeom prst="rect">
            <a:avLst/>
          </a:prstGeom>
          <a:noFill/>
        </p:spPr>
        <p:txBody>
          <a:bodyPr wrap="square">
            <a:spAutoFit/>
          </a:bodyPr>
          <a:lstStyle/>
          <a:p>
            <a:pPr>
              <a:buNone/>
            </a:pPr>
            <a:r>
              <a:rPr lang="en-US" sz="2400" dirty="0">
                <a:latin typeface="Source Serif 4" panose="020B0604020202020204" charset="0"/>
                <a:ea typeface="Source Serif 4" panose="020B0604020202020204" charset="0"/>
                <a:cs typeface="Times New Roman" panose="02020603050405020304" pitchFamily="18" charset="0"/>
              </a:rPr>
              <a:t>This board works as a time-stamped data logger. The ATmega328P microcontroller collects data, then requests the current date and time from the RTC (DS1337) and finally stores the data in two EEPROM memory chips so the information remains saved even if power is removed.</a:t>
            </a:r>
          </a:p>
          <a:p>
            <a:pPr>
              <a:buNone/>
            </a:pPr>
            <a:endParaRPr lang="en-US" sz="2400" dirty="0">
              <a:latin typeface="Source Serif 4" panose="020B0604020202020204" charset="0"/>
              <a:ea typeface="Source Serif 4" panose="020B0604020202020204" charset="0"/>
              <a:cs typeface="Times New Roman" panose="02020603050405020304" pitchFamily="18" charset="0"/>
            </a:endParaRPr>
          </a:p>
          <a:p>
            <a:pPr>
              <a:buNone/>
            </a:pPr>
            <a:r>
              <a:rPr lang="en-US" sz="2400" dirty="0">
                <a:latin typeface="Source Serif 4" panose="020B0604020202020204" charset="0"/>
                <a:ea typeface="Source Serif 4" panose="020B0604020202020204" charset="0"/>
                <a:cs typeface="Times New Roman" panose="02020603050405020304" pitchFamily="18" charset="0"/>
              </a:rPr>
              <a:t>Communication between the components is done using the I²C bus, which connects the MCU, RTC, and the two EEPROMs. The board also includes LED indicators to show power and activity, and header pins (UART/SPI/I²C) to allow programming, testing, and reading the stored data on a computer or another device.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817602"/>
            <a:ext cx="11737538" cy="708779"/>
          </a:xfrm>
          <a:prstGeom prst="rect">
            <a:avLst/>
          </a:prstGeom>
          <a:noFill/>
          <a:ln/>
        </p:spPr>
        <p:txBody>
          <a:bodyPr wrap="none" lIns="0" tIns="0" rIns="0" bIns="0" rtlCol="0" anchor="t"/>
          <a:lstStyle/>
          <a:p>
            <a:pPr marL="0" indent="0" algn="l">
              <a:lnSpc>
                <a:spcPts val="5550"/>
              </a:lnSpc>
              <a:buNone/>
            </a:pPr>
            <a:r>
              <a:rPr lang="en-US" sz="4450" dirty="0">
                <a:solidFill>
                  <a:srgbClr val="201B18"/>
                </a:solidFill>
                <a:latin typeface="Platypi Medium" pitchFamily="34" charset="0"/>
                <a:ea typeface="Platypi Medium" pitchFamily="34" charset="-122"/>
                <a:cs typeface="Platypi Medium" pitchFamily="34" charset="-120"/>
              </a:rPr>
              <a:t>Key Components of the DataLogger Board</a:t>
            </a:r>
            <a:endParaRPr lang="en-US" sz="4450" dirty="0"/>
          </a:p>
        </p:txBody>
      </p:sp>
      <p:sp>
        <p:nvSpPr>
          <p:cNvPr id="3" name="Text 1"/>
          <p:cNvSpPr/>
          <p:nvPr/>
        </p:nvSpPr>
        <p:spPr>
          <a:xfrm>
            <a:off x="793790" y="1980009"/>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The board integrates several critical components to ensure reliable data logging and timekeeping.</a:t>
            </a:r>
            <a:endParaRPr lang="en-US" sz="175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3790" y="2598063"/>
            <a:ext cx="680442" cy="680442"/>
          </a:xfrm>
          <a:prstGeom prst="rect">
            <a:avLst/>
          </a:prstGeom>
        </p:spPr>
      </p:pic>
      <p:sp>
        <p:nvSpPr>
          <p:cNvPr id="5" name="Text 2"/>
          <p:cNvSpPr/>
          <p:nvPr/>
        </p:nvSpPr>
        <p:spPr>
          <a:xfrm>
            <a:off x="793790" y="356199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504C49"/>
                </a:solidFill>
                <a:latin typeface="Platypi Medium" pitchFamily="34" charset="0"/>
                <a:ea typeface="Platypi Medium" pitchFamily="34" charset="-122"/>
                <a:cs typeface="Platypi Medium" pitchFamily="34" charset="-120"/>
              </a:rPr>
              <a:t>ATmega328p-Au MC</a:t>
            </a:r>
            <a:endParaRPr lang="en-US" sz="2200" dirty="0"/>
          </a:p>
        </p:txBody>
      </p:sp>
      <p:sp>
        <p:nvSpPr>
          <p:cNvPr id="6" name="Text 3"/>
          <p:cNvSpPr/>
          <p:nvPr/>
        </p:nvSpPr>
        <p:spPr>
          <a:xfrm>
            <a:off x="793790" y="4052411"/>
            <a:ext cx="6379607" cy="362903"/>
          </a:xfrm>
          <a:prstGeom prst="rect">
            <a:avLst/>
          </a:prstGeom>
          <a:noFill/>
          <a:ln/>
        </p:spPr>
        <p:txBody>
          <a:bodyPr wrap="none" lIns="0" tIns="0" rIns="0" bIns="0" rtlCol="0" anchor="t"/>
          <a:lstStyle/>
          <a:p>
            <a:pPr marL="0" indent="0" algn="l">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The central processing unit for all board operations.</a:t>
            </a:r>
            <a:endParaRPr lang="en-US" sz="1750" dirty="0"/>
          </a:p>
        </p:txBody>
      </p:sp>
      <p:pic>
        <p:nvPicPr>
          <p:cNvPr id="7"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456884" y="2598063"/>
            <a:ext cx="680442" cy="680442"/>
          </a:xfrm>
          <a:prstGeom prst="rect">
            <a:avLst/>
          </a:prstGeom>
        </p:spPr>
      </p:pic>
      <p:sp>
        <p:nvSpPr>
          <p:cNvPr id="8" name="Text 4"/>
          <p:cNvSpPr/>
          <p:nvPr/>
        </p:nvSpPr>
        <p:spPr>
          <a:xfrm>
            <a:off x="7456884" y="3561993"/>
            <a:ext cx="3081695" cy="354330"/>
          </a:xfrm>
          <a:prstGeom prst="rect">
            <a:avLst/>
          </a:prstGeom>
          <a:noFill/>
          <a:ln/>
        </p:spPr>
        <p:txBody>
          <a:bodyPr wrap="none" lIns="0" tIns="0" rIns="0" bIns="0" rtlCol="0" anchor="t"/>
          <a:lstStyle/>
          <a:p>
            <a:pPr marL="0" indent="0" algn="l">
              <a:lnSpc>
                <a:spcPts val="2750"/>
              </a:lnSpc>
              <a:buNone/>
            </a:pPr>
            <a:r>
              <a:rPr lang="en-US" sz="2200" dirty="0">
                <a:solidFill>
                  <a:srgbClr val="504C49"/>
                </a:solidFill>
                <a:latin typeface="Platypi Medium" pitchFamily="34" charset="0"/>
                <a:ea typeface="Platypi Medium" pitchFamily="34" charset="-122"/>
                <a:cs typeface="Platypi Medium" pitchFamily="34" charset="-120"/>
              </a:rPr>
              <a:t>2 EEPROM (24LC1025)</a:t>
            </a:r>
            <a:endParaRPr lang="en-US" sz="2200" dirty="0"/>
          </a:p>
        </p:txBody>
      </p:sp>
      <p:sp>
        <p:nvSpPr>
          <p:cNvPr id="9" name="Text 5"/>
          <p:cNvSpPr/>
          <p:nvPr/>
        </p:nvSpPr>
        <p:spPr>
          <a:xfrm>
            <a:off x="7456884" y="4052411"/>
            <a:ext cx="6379726" cy="725805"/>
          </a:xfrm>
          <a:prstGeom prst="rect">
            <a:avLst/>
          </a:prstGeom>
          <a:noFill/>
          <a:ln/>
        </p:spPr>
        <p:txBody>
          <a:bodyPr wrap="square" lIns="0" tIns="0" rIns="0" bIns="0" rtlCol="0" anchor="t"/>
          <a:lstStyle/>
          <a:p>
            <a:pPr marL="0" indent="0" algn="l">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Two external memory chips for high-capacity, non-volatile data storage.</a:t>
            </a:r>
            <a:endParaRPr lang="en-US" sz="1750" dirty="0"/>
          </a:p>
        </p:txBody>
      </p:sp>
      <p:pic>
        <p:nvPicPr>
          <p:cNvPr id="10"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93790" y="5231844"/>
            <a:ext cx="680442" cy="680442"/>
          </a:xfrm>
          <a:prstGeom prst="rect">
            <a:avLst/>
          </a:prstGeom>
        </p:spPr>
      </p:pic>
      <p:sp>
        <p:nvSpPr>
          <p:cNvPr id="11" name="Text 6"/>
          <p:cNvSpPr/>
          <p:nvPr/>
        </p:nvSpPr>
        <p:spPr>
          <a:xfrm>
            <a:off x="793790" y="619577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504C49"/>
                </a:solidFill>
                <a:latin typeface="Platypi Medium" pitchFamily="34" charset="0"/>
                <a:ea typeface="Platypi Medium" pitchFamily="34" charset="-122"/>
                <a:cs typeface="Platypi Medium" pitchFamily="34" charset="-120"/>
              </a:rPr>
              <a:t>RTC Chip (DS1337S)</a:t>
            </a:r>
            <a:endParaRPr lang="en-US" sz="2200" dirty="0"/>
          </a:p>
        </p:txBody>
      </p:sp>
      <p:sp>
        <p:nvSpPr>
          <p:cNvPr id="12" name="Text 7"/>
          <p:cNvSpPr/>
          <p:nvPr/>
        </p:nvSpPr>
        <p:spPr>
          <a:xfrm>
            <a:off x="793790" y="6686193"/>
            <a:ext cx="6379607" cy="362903"/>
          </a:xfrm>
          <a:prstGeom prst="rect">
            <a:avLst/>
          </a:prstGeom>
          <a:noFill/>
          <a:ln/>
        </p:spPr>
        <p:txBody>
          <a:bodyPr wrap="none" lIns="0" tIns="0" rIns="0" bIns="0" rtlCol="0" anchor="t"/>
          <a:lstStyle/>
          <a:p>
            <a:pPr marL="0" indent="0" algn="l">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Real-Time Clock for accurate timestamping of logged data.</a:t>
            </a:r>
            <a:endParaRPr lang="en-US" sz="1750" dirty="0"/>
          </a:p>
        </p:txBody>
      </p:sp>
      <p:pic>
        <p:nvPicPr>
          <p:cNvPr id="13"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456884" y="5231844"/>
            <a:ext cx="680442" cy="680442"/>
          </a:xfrm>
          <a:prstGeom prst="rect">
            <a:avLst/>
          </a:prstGeom>
        </p:spPr>
      </p:pic>
      <p:sp>
        <p:nvSpPr>
          <p:cNvPr id="14" name="Text 8"/>
          <p:cNvSpPr/>
          <p:nvPr/>
        </p:nvSpPr>
        <p:spPr>
          <a:xfrm>
            <a:off x="7456884" y="619577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504C49"/>
                </a:solidFill>
                <a:latin typeface="Platypi Medium" pitchFamily="34" charset="0"/>
                <a:ea typeface="Platypi Medium" pitchFamily="34" charset="-122"/>
                <a:cs typeface="Platypi Medium" pitchFamily="34" charset="-120"/>
              </a:rPr>
              <a:t>Indicator LEDs</a:t>
            </a:r>
            <a:endParaRPr lang="en-US" sz="2200" dirty="0"/>
          </a:p>
        </p:txBody>
      </p:sp>
      <p:sp>
        <p:nvSpPr>
          <p:cNvPr id="15" name="Text 9"/>
          <p:cNvSpPr/>
          <p:nvPr/>
        </p:nvSpPr>
        <p:spPr>
          <a:xfrm>
            <a:off x="7456884" y="6686193"/>
            <a:ext cx="6379726" cy="725805"/>
          </a:xfrm>
          <a:prstGeom prst="rect">
            <a:avLst/>
          </a:prstGeom>
          <a:noFill/>
          <a:ln/>
        </p:spPr>
        <p:txBody>
          <a:bodyPr wrap="square" lIns="0" tIns="0" rIns="0" bIns="0" rtlCol="0" anchor="t"/>
          <a:lstStyle/>
          <a:p>
            <a:pPr marL="0" indent="0" algn="l">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Visual feedback for power status and SPI clock signal activity.</a:t>
            </a:r>
            <a:endParaRPr lang="en-US" sz="1750" dirty="0"/>
          </a:p>
        </p:txBody>
      </p:sp>
      <p:sp>
        <p:nvSpPr>
          <p:cNvPr id="16" name="TextBox 15">
            <a:extLst>
              <a:ext uri="{FF2B5EF4-FFF2-40B4-BE49-F238E27FC236}">
                <a16:creationId xmlns:a16="http://schemas.microsoft.com/office/drawing/2014/main" id="{25CB471E-A0A3-ECAF-DFCB-9F306D516216}"/>
              </a:ext>
            </a:extLst>
          </p:cNvPr>
          <p:cNvSpPr txBox="1"/>
          <p:nvPr/>
        </p:nvSpPr>
        <p:spPr>
          <a:xfrm>
            <a:off x="12866914" y="7728857"/>
            <a:ext cx="1763486" cy="500743"/>
          </a:xfrm>
          <a:prstGeom prst="rect">
            <a:avLst/>
          </a:prstGeom>
          <a:solidFill>
            <a:schemeClr val="bg1"/>
          </a:solidFill>
        </p:spPr>
        <p:txBody>
          <a:bodyPr wrap="square" rtlCol="0">
            <a:spAutoFit/>
          </a:bodyPr>
          <a:lstStyle/>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2208133"/>
            <a:ext cx="6509504" cy="708779"/>
          </a:xfrm>
          <a:prstGeom prst="rect">
            <a:avLst/>
          </a:prstGeom>
          <a:noFill/>
          <a:ln/>
        </p:spPr>
        <p:txBody>
          <a:bodyPr wrap="none" lIns="0" tIns="0" rIns="0" bIns="0" rtlCol="0" anchor="t"/>
          <a:lstStyle/>
          <a:p>
            <a:pPr marL="0" indent="0" algn="l">
              <a:lnSpc>
                <a:spcPts val="5550"/>
              </a:lnSpc>
              <a:buNone/>
            </a:pPr>
            <a:r>
              <a:rPr lang="en-US" sz="4450" dirty="0">
                <a:solidFill>
                  <a:srgbClr val="201B18"/>
                </a:solidFill>
                <a:latin typeface="Platypi Medium" pitchFamily="34" charset="0"/>
                <a:ea typeface="Platypi Medium" pitchFamily="34" charset="-122"/>
                <a:cs typeface="Platypi Medium" pitchFamily="34" charset="-120"/>
              </a:rPr>
              <a:t>Interfacing Capabilities</a:t>
            </a:r>
            <a:endParaRPr lang="en-US" sz="4450" dirty="0"/>
          </a:p>
        </p:txBody>
      </p:sp>
      <p:sp>
        <p:nvSpPr>
          <p:cNvPr id="3" name="Text 1"/>
          <p:cNvSpPr/>
          <p:nvPr/>
        </p:nvSpPr>
        <p:spPr>
          <a:xfrm>
            <a:off x="793790" y="3370540"/>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Connectors were designed to allow seamless communication with various external modules and peripherals.</a:t>
            </a:r>
            <a:endParaRPr lang="en-US" sz="1750" dirty="0"/>
          </a:p>
        </p:txBody>
      </p:sp>
      <p:sp>
        <p:nvSpPr>
          <p:cNvPr id="4" name="Shape 2"/>
          <p:cNvSpPr/>
          <p:nvPr/>
        </p:nvSpPr>
        <p:spPr>
          <a:xfrm>
            <a:off x="793790" y="3988594"/>
            <a:ext cx="13042821" cy="2032754"/>
          </a:xfrm>
          <a:prstGeom prst="roundRect">
            <a:avLst>
              <a:gd name="adj" fmla="val 1674"/>
            </a:avLst>
          </a:prstGeom>
          <a:solidFill>
            <a:srgbClr val="F9F7F7"/>
          </a:solidFill>
          <a:ln/>
        </p:spPr>
        <p:txBody>
          <a:bodyPr/>
          <a:lstStyle/>
          <a:p>
            <a:endParaRPr lang="en-US"/>
          </a:p>
        </p:txBody>
      </p:sp>
      <p:sp>
        <p:nvSpPr>
          <p:cNvPr id="5" name="Shape 3"/>
          <p:cNvSpPr/>
          <p:nvPr/>
        </p:nvSpPr>
        <p:spPr>
          <a:xfrm>
            <a:off x="793790" y="3988594"/>
            <a:ext cx="4347567" cy="2032754"/>
          </a:xfrm>
          <a:prstGeom prst="roundRect">
            <a:avLst>
              <a:gd name="adj" fmla="val 1674"/>
            </a:avLst>
          </a:prstGeom>
          <a:solidFill>
            <a:srgbClr val="F9F7F7"/>
          </a:solidFill>
          <a:ln/>
        </p:spPr>
        <p:txBody>
          <a:bodyPr/>
          <a:lstStyle/>
          <a:p>
            <a:endParaRPr lang="en-US"/>
          </a:p>
        </p:txBody>
      </p:sp>
      <p:sp>
        <p:nvSpPr>
          <p:cNvPr id="6" name="Text 4"/>
          <p:cNvSpPr/>
          <p:nvPr/>
        </p:nvSpPr>
        <p:spPr>
          <a:xfrm>
            <a:off x="1020604" y="421540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504C49"/>
                </a:solidFill>
                <a:latin typeface="Platypi Medium" pitchFamily="34" charset="0"/>
                <a:ea typeface="Platypi Medium" pitchFamily="34" charset="-122"/>
                <a:cs typeface="Platypi Medium" pitchFamily="34" charset="-120"/>
              </a:rPr>
              <a:t>UART Interface</a:t>
            </a:r>
            <a:endParaRPr lang="en-US" sz="2200" dirty="0"/>
          </a:p>
        </p:txBody>
      </p:sp>
      <p:sp>
        <p:nvSpPr>
          <p:cNvPr id="7" name="Text 5"/>
          <p:cNvSpPr/>
          <p:nvPr/>
        </p:nvSpPr>
        <p:spPr>
          <a:xfrm>
            <a:off x="1020604" y="4705826"/>
            <a:ext cx="3553778" cy="1088708"/>
          </a:xfrm>
          <a:prstGeom prst="rect">
            <a:avLst/>
          </a:prstGeom>
          <a:noFill/>
          <a:ln/>
        </p:spPr>
        <p:txBody>
          <a:bodyPr wrap="square" lIns="0" tIns="0" rIns="0" bIns="0" rtlCol="0" anchor="t"/>
          <a:lstStyle/>
          <a:p>
            <a:pPr marL="0" indent="0" algn="l">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Universal Asynchronous Receiver-Transmitter for serial data exchange.</a:t>
            </a:r>
            <a:endParaRPr lang="en-US" sz="1750" dirty="0"/>
          </a:p>
        </p:txBody>
      </p:sp>
      <p:sp>
        <p:nvSpPr>
          <p:cNvPr id="8" name="Shape 6"/>
          <p:cNvSpPr/>
          <p:nvPr/>
        </p:nvSpPr>
        <p:spPr>
          <a:xfrm>
            <a:off x="5141357" y="3988594"/>
            <a:ext cx="4347567" cy="2032754"/>
          </a:xfrm>
          <a:prstGeom prst="rect">
            <a:avLst/>
          </a:prstGeom>
          <a:solidFill>
            <a:srgbClr val="F9F7F7"/>
          </a:solidFill>
          <a:ln/>
        </p:spPr>
        <p:txBody>
          <a:bodyPr/>
          <a:lstStyle/>
          <a:p>
            <a:endParaRPr lang="en-US"/>
          </a:p>
        </p:txBody>
      </p:sp>
      <p:sp>
        <p:nvSpPr>
          <p:cNvPr id="9" name="Shape 7"/>
          <p:cNvSpPr/>
          <p:nvPr/>
        </p:nvSpPr>
        <p:spPr>
          <a:xfrm>
            <a:off x="5141357" y="3988594"/>
            <a:ext cx="30480" cy="2032754"/>
          </a:xfrm>
          <a:prstGeom prst="roundRect">
            <a:avLst>
              <a:gd name="adj" fmla="val 111628"/>
            </a:avLst>
          </a:prstGeom>
          <a:solidFill>
            <a:srgbClr val="D8D4D4"/>
          </a:solidFill>
          <a:ln/>
        </p:spPr>
        <p:txBody>
          <a:bodyPr/>
          <a:lstStyle/>
          <a:p>
            <a:endParaRPr lang="en-US"/>
          </a:p>
        </p:txBody>
      </p:sp>
      <p:sp>
        <p:nvSpPr>
          <p:cNvPr id="10" name="Text 8"/>
          <p:cNvSpPr/>
          <p:nvPr/>
        </p:nvSpPr>
        <p:spPr>
          <a:xfrm>
            <a:off x="5708333" y="421540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504C49"/>
                </a:solidFill>
                <a:latin typeface="Platypi Medium" pitchFamily="34" charset="0"/>
                <a:ea typeface="Platypi Medium" pitchFamily="34" charset="-122"/>
                <a:cs typeface="Platypi Medium" pitchFamily="34" charset="-120"/>
              </a:rPr>
              <a:t>SPI Interface</a:t>
            </a:r>
            <a:endParaRPr lang="en-US" sz="2200" dirty="0"/>
          </a:p>
        </p:txBody>
      </p:sp>
      <p:sp>
        <p:nvSpPr>
          <p:cNvPr id="11" name="Text 9"/>
          <p:cNvSpPr/>
          <p:nvPr/>
        </p:nvSpPr>
        <p:spPr>
          <a:xfrm>
            <a:off x="5708333" y="4705826"/>
            <a:ext cx="3213616" cy="1088708"/>
          </a:xfrm>
          <a:prstGeom prst="rect">
            <a:avLst/>
          </a:prstGeom>
          <a:noFill/>
          <a:ln/>
        </p:spPr>
        <p:txBody>
          <a:bodyPr wrap="square" lIns="0" tIns="0" rIns="0" bIns="0" rtlCol="0" anchor="t"/>
          <a:lstStyle/>
          <a:p>
            <a:pPr marL="0" indent="0" algn="l">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Serial Peripheral Interface for high-speed synchronous communication.</a:t>
            </a:r>
            <a:endParaRPr lang="en-US" sz="1750" dirty="0"/>
          </a:p>
        </p:txBody>
      </p:sp>
      <p:sp>
        <p:nvSpPr>
          <p:cNvPr id="12" name="Shape 10"/>
          <p:cNvSpPr/>
          <p:nvPr/>
        </p:nvSpPr>
        <p:spPr>
          <a:xfrm>
            <a:off x="4857869" y="4721423"/>
            <a:ext cx="566976" cy="566976"/>
          </a:xfrm>
          <a:prstGeom prst="roundRect">
            <a:avLst>
              <a:gd name="adj" fmla="val 6001"/>
            </a:avLst>
          </a:prstGeom>
          <a:solidFill>
            <a:srgbClr val="FFFFFF"/>
          </a:solidFill>
          <a:ln w="30480">
            <a:solidFill>
              <a:srgbClr val="D8D4D4"/>
            </a:solidFill>
            <a:prstDash val="solid"/>
          </a:ln>
        </p:spPr>
        <p:txBody>
          <a:bodyPr/>
          <a:lstStyle/>
          <a:p>
            <a:endParaRPr lang="en-US"/>
          </a:p>
        </p:txBody>
      </p:sp>
      <p:pic>
        <p:nvPicPr>
          <p:cNvPr id="1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99553" y="4863108"/>
            <a:ext cx="283488" cy="283488"/>
          </a:xfrm>
          <a:prstGeom prst="rect">
            <a:avLst/>
          </a:prstGeom>
        </p:spPr>
      </p:pic>
      <p:sp>
        <p:nvSpPr>
          <p:cNvPr id="14" name="Shape 11"/>
          <p:cNvSpPr/>
          <p:nvPr/>
        </p:nvSpPr>
        <p:spPr>
          <a:xfrm>
            <a:off x="9488924" y="3988594"/>
            <a:ext cx="4347567" cy="2032754"/>
          </a:xfrm>
          <a:prstGeom prst="rect">
            <a:avLst/>
          </a:prstGeom>
          <a:solidFill>
            <a:srgbClr val="F9F7F7"/>
          </a:solidFill>
          <a:ln/>
        </p:spPr>
        <p:txBody>
          <a:bodyPr/>
          <a:lstStyle/>
          <a:p>
            <a:endParaRPr lang="en-US"/>
          </a:p>
        </p:txBody>
      </p:sp>
      <p:sp>
        <p:nvSpPr>
          <p:cNvPr id="15" name="Shape 12"/>
          <p:cNvSpPr/>
          <p:nvPr/>
        </p:nvSpPr>
        <p:spPr>
          <a:xfrm>
            <a:off x="9488924" y="3988594"/>
            <a:ext cx="30480" cy="2032754"/>
          </a:xfrm>
          <a:prstGeom prst="roundRect">
            <a:avLst>
              <a:gd name="adj" fmla="val 111628"/>
            </a:avLst>
          </a:prstGeom>
          <a:solidFill>
            <a:srgbClr val="D8D4D4"/>
          </a:solidFill>
          <a:ln/>
        </p:spPr>
        <p:txBody>
          <a:bodyPr/>
          <a:lstStyle/>
          <a:p>
            <a:endParaRPr lang="en-US"/>
          </a:p>
        </p:txBody>
      </p:sp>
      <p:sp>
        <p:nvSpPr>
          <p:cNvPr id="16" name="Text 13"/>
          <p:cNvSpPr/>
          <p:nvPr/>
        </p:nvSpPr>
        <p:spPr>
          <a:xfrm>
            <a:off x="10055900" y="421540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504C49"/>
                </a:solidFill>
                <a:latin typeface="Platypi Medium" pitchFamily="34" charset="0"/>
                <a:ea typeface="Platypi Medium" pitchFamily="34" charset="-122"/>
                <a:cs typeface="Platypi Medium" pitchFamily="34" charset="-120"/>
              </a:rPr>
              <a:t>I2C Interface</a:t>
            </a:r>
            <a:endParaRPr lang="en-US" sz="2200" dirty="0"/>
          </a:p>
        </p:txBody>
      </p:sp>
      <p:sp>
        <p:nvSpPr>
          <p:cNvPr id="17" name="Text 14"/>
          <p:cNvSpPr/>
          <p:nvPr/>
        </p:nvSpPr>
        <p:spPr>
          <a:xfrm>
            <a:off x="10055900" y="4705826"/>
            <a:ext cx="3553778" cy="1088708"/>
          </a:xfrm>
          <a:prstGeom prst="rect">
            <a:avLst/>
          </a:prstGeom>
          <a:noFill/>
          <a:ln/>
        </p:spPr>
        <p:txBody>
          <a:bodyPr wrap="square" lIns="0" tIns="0" rIns="0" bIns="0" rtlCol="0" anchor="t"/>
          <a:lstStyle/>
          <a:p>
            <a:pPr marL="0" indent="0" algn="l">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Inter-Integrated Circuit bus for connecting low-speed peripherals.</a:t>
            </a:r>
            <a:endParaRPr lang="en-US" sz="1750" dirty="0"/>
          </a:p>
        </p:txBody>
      </p:sp>
      <p:sp>
        <p:nvSpPr>
          <p:cNvPr id="18" name="Shape 15"/>
          <p:cNvSpPr/>
          <p:nvPr/>
        </p:nvSpPr>
        <p:spPr>
          <a:xfrm>
            <a:off x="9205436" y="4721423"/>
            <a:ext cx="566976" cy="566976"/>
          </a:xfrm>
          <a:prstGeom prst="roundRect">
            <a:avLst>
              <a:gd name="adj" fmla="val 6001"/>
            </a:avLst>
          </a:prstGeom>
          <a:solidFill>
            <a:srgbClr val="FFFFFF"/>
          </a:solidFill>
          <a:ln w="30480">
            <a:solidFill>
              <a:srgbClr val="D8D4D4"/>
            </a:solidFill>
            <a:prstDash val="solid"/>
          </a:ln>
        </p:spPr>
        <p:txBody>
          <a:bodyPr/>
          <a:lstStyle/>
          <a:p>
            <a:endParaRPr lang="en-US"/>
          </a:p>
        </p:txBody>
      </p:sp>
      <p:pic>
        <p:nvPicPr>
          <p:cNvPr id="19"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347121" y="4863108"/>
            <a:ext cx="283488" cy="283488"/>
          </a:xfrm>
          <a:prstGeom prst="rect">
            <a:avLst/>
          </a:prstGeom>
        </p:spPr>
      </p:pic>
      <p:sp>
        <p:nvSpPr>
          <p:cNvPr id="20" name="TextBox 19">
            <a:extLst>
              <a:ext uri="{FF2B5EF4-FFF2-40B4-BE49-F238E27FC236}">
                <a16:creationId xmlns:a16="http://schemas.microsoft.com/office/drawing/2014/main" id="{1E3F2602-A5C2-1041-8C9E-1704F3E9B167}"/>
              </a:ext>
            </a:extLst>
          </p:cNvPr>
          <p:cNvSpPr txBox="1"/>
          <p:nvPr/>
        </p:nvSpPr>
        <p:spPr>
          <a:xfrm>
            <a:off x="12866914" y="7728857"/>
            <a:ext cx="1763486" cy="500743"/>
          </a:xfrm>
          <a:prstGeom prst="rect">
            <a:avLst/>
          </a:prstGeom>
          <a:solidFill>
            <a:schemeClr val="bg1"/>
          </a:solidFill>
        </p:spPr>
        <p:txBody>
          <a:bodyPr wrap="square" rtlCol="0">
            <a:spAutoFit/>
          </a:bodyPr>
          <a:lstStyle/>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75930" y="609600"/>
            <a:ext cx="10084475" cy="692706"/>
          </a:xfrm>
          <a:prstGeom prst="rect">
            <a:avLst/>
          </a:prstGeom>
          <a:noFill/>
          <a:ln/>
        </p:spPr>
        <p:txBody>
          <a:bodyPr wrap="none" lIns="0" tIns="0" rIns="0" bIns="0" rtlCol="0" anchor="t"/>
          <a:lstStyle/>
          <a:p>
            <a:pPr marL="0" indent="0" algn="l">
              <a:lnSpc>
                <a:spcPts val="5450"/>
              </a:lnSpc>
              <a:buNone/>
            </a:pPr>
            <a:r>
              <a:rPr lang="en-US" sz="4350" dirty="0">
                <a:solidFill>
                  <a:srgbClr val="201B18"/>
                </a:solidFill>
                <a:latin typeface="Platypi Medium" pitchFamily="34" charset="0"/>
                <a:ea typeface="Platypi Medium" pitchFamily="34" charset="-122"/>
                <a:cs typeface="Platypi Medium" pitchFamily="34" charset="-120"/>
              </a:rPr>
              <a:t>Project Objectives: Schematic Design</a:t>
            </a:r>
            <a:endParaRPr lang="en-US" sz="4350" dirty="0"/>
          </a:p>
        </p:txBody>
      </p:sp>
      <p:sp>
        <p:nvSpPr>
          <p:cNvPr id="3" name="Text 1"/>
          <p:cNvSpPr/>
          <p:nvPr/>
        </p:nvSpPr>
        <p:spPr>
          <a:xfrm>
            <a:off x="775930" y="1745694"/>
            <a:ext cx="13078539" cy="354687"/>
          </a:xfrm>
          <a:prstGeom prst="rect">
            <a:avLst/>
          </a:prstGeom>
          <a:noFill/>
          <a:ln/>
        </p:spPr>
        <p:txBody>
          <a:bodyPr wrap="none" lIns="0" tIns="0" rIns="0" bIns="0" rtlCol="0" anchor="t"/>
          <a:lstStyle/>
          <a:p>
            <a:pPr marL="0" indent="0" algn="l">
              <a:lnSpc>
                <a:spcPts val="2750"/>
              </a:lnSpc>
              <a:buNone/>
            </a:pPr>
            <a:r>
              <a:rPr lang="en-US" sz="1700" dirty="0">
                <a:solidFill>
                  <a:srgbClr val="504C49"/>
                </a:solidFill>
                <a:latin typeface="Source Serif 4" pitchFamily="34" charset="0"/>
                <a:ea typeface="Source Serif 4" pitchFamily="34" charset="-122"/>
                <a:cs typeface="Source Serif 4" pitchFamily="34" charset="-120"/>
              </a:rPr>
              <a:t>The schematic phase focused on defining the electrical connections and component placement logically.</a:t>
            </a:r>
            <a:endParaRPr lang="en-US" sz="170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59036" y="2605861"/>
            <a:ext cx="332542" cy="332542"/>
          </a:xfrm>
          <a:prstGeom prst="rect">
            <a:avLst/>
          </a:prstGeom>
        </p:spPr>
      </p:pic>
      <p:sp>
        <p:nvSpPr>
          <p:cNvPr id="5" name="Text 2"/>
          <p:cNvSpPr/>
          <p:nvPr/>
        </p:nvSpPr>
        <p:spPr>
          <a:xfrm>
            <a:off x="1496378" y="2599015"/>
            <a:ext cx="2956322" cy="692944"/>
          </a:xfrm>
          <a:prstGeom prst="rect">
            <a:avLst/>
          </a:prstGeom>
          <a:noFill/>
          <a:ln/>
        </p:spPr>
        <p:txBody>
          <a:bodyPr wrap="square" lIns="0" tIns="0" rIns="0" bIns="0" rtlCol="0" anchor="t"/>
          <a:lstStyle/>
          <a:p>
            <a:pPr marL="0" indent="0" algn="l">
              <a:lnSpc>
                <a:spcPts val="2700"/>
              </a:lnSpc>
              <a:buNone/>
            </a:pPr>
            <a:r>
              <a:rPr lang="en-US" sz="2150" dirty="0">
                <a:solidFill>
                  <a:srgbClr val="504C49"/>
                </a:solidFill>
                <a:latin typeface="Platypi Medium" pitchFamily="34" charset="0"/>
                <a:ea typeface="Platypi Medium" pitchFamily="34" charset="-122"/>
                <a:cs typeface="Platypi Medium" pitchFamily="34" charset="-120"/>
              </a:rPr>
              <a:t>Component Integration</a:t>
            </a:r>
            <a:endParaRPr lang="en-US" sz="2150" dirty="0"/>
          </a:p>
        </p:txBody>
      </p:sp>
      <p:sp>
        <p:nvSpPr>
          <p:cNvPr id="6" name="Text 3"/>
          <p:cNvSpPr/>
          <p:nvPr/>
        </p:nvSpPr>
        <p:spPr>
          <a:xfrm>
            <a:off x="1496378" y="3513653"/>
            <a:ext cx="2956322" cy="1064062"/>
          </a:xfrm>
          <a:prstGeom prst="rect">
            <a:avLst/>
          </a:prstGeom>
          <a:noFill/>
          <a:ln/>
        </p:spPr>
        <p:txBody>
          <a:bodyPr wrap="square" lIns="0" tIns="0" rIns="0" bIns="0" rtlCol="0" anchor="t"/>
          <a:lstStyle/>
          <a:p>
            <a:pPr marL="0" indent="0" algn="l">
              <a:lnSpc>
                <a:spcPts val="2750"/>
              </a:lnSpc>
              <a:buNone/>
            </a:pPr>
            <a:r>
              <a:rPr lang="en-US" sz="1700" dirty="0">
                <a:solidFill>
                  <a:srgbClr val="504C49"/>
                </a:solidFill>
                <a:latin typeface="Source Serif 4" pitchFamily="34" charset="0"/>
                <a:ea typeface="Source Serif 4" pitchFamily="34" charset="-122"/>
                <a:cs typeface="Source Serif 4" pitchFamily="34" charset="-120"/>
              </a:rPr>
              <a:t>Successfully connecting the MCU, EEPROMs, and RTC chip.</a:t>
            </a:r>
            <a:endParaRPr lang="en-US" sz="1700" dirty="0"/>
          </a:p>
        </p:txBody>
      </p:sp>
      <p:pic>
        <p:nvPicPr>
          <p:cNvPr id="7"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12863" y="2605861"/>
            <a:ext cx="332542" cy="332542"/>
          </a:xfrm>
          <a:prstGeom prst="rect">
            <a:avLst/>
          </a:prstGeom>
        </p:spPr>
      </p:pic>
      <p:sp>
        <p:nvSpPr>
          <p:cNvPr id="8" name="Text 4"/>
          <p:cNvSpPr/>
          <p:nvPr/>
        </p:nvSpPr>
        <p:spPr>
          <a:xfrm>
            <a:off x="5450205" y="2599015"/>
            <a:ext cx="2956441" cy="692944"/>
          </a:xfrm>
          <a:prstGeom prst="rect">
            <a:avLst/>
          </a:prstGeom>
          <a:noFill/>
          <a:ln/>
        </p:spPr>
        <p:txBody>
          <a:bodyPr wrap="square" lIns="0" tIns="0" rIns="0" bIns="0" rtlCol="0" anchor="t"/>
          <a:lstStyle/>
          <a:p>
            <a:pPr marL="0" indent="0" algn="l">
              <a:lnSpc>
                <a:spcPts val="2700"/>
              </a:lnSpc>
              <a:buNone/>
            </a:pPr>
            <a:r>
              <a:rPr lang="en-US" sz="2150" dirty="0">
                <a:solidFill>
                  <a:srgbClr val="504C49"/>
                </a:solidFill>
                <a:latin typeface="Platypi Medium" pitchFamily="34" charset="0"/>
                <a:ea typeface="Platypi Medium" pitchFamily="34" charset="-122"/>
                <a:cs typeface="Platypi Medium" pitchFamily="34" charset="-120"/>
              </a:rPr>
              <a:t>Interfacing Connectors</a:t>
            </a:r>
            <a:endParaRPr lang="en-US" sz="2150" dirty="0"/>
          </a:p>
        </p:txBody>
      </p:sp>
      <p:sp>
        <p:nvSpPr>
          <p:cNvPr id="9" name="Text 5"/>
          <p:cNvSpPr/>
          <p:nvPr/>
        </p:nvSpPr>
        <p:spPr>
          <a:xfrm>
            <a:off x="5450205" y="3513653"/>
            <a:ext cx="2956441" cy="1064062"/>
          </a:xfrm>
          <a:prstGeom prst="rect">
            <a:avLst/>
          </a:prstGeom>
          <a:noFill/>
          <a:ln/>
        </p:spPr>
        <p:txBody>
          <a:bodyPr wrap="square" lIns="0" tIns="0" rIns="0" bIns="0" rtlCol="0" anchor="t"/>
          <a:lstStyle/>
          <a:p>
            <a:pPr marL="0" indent="0" algn="l">
              <a:lnSpc>
                <a:spcPts val="2750"/>
              </a:lnSpc>
              <a:buNone/>
            </a:pPr>
            <a:r>
              <a:rPr lang="en-US" sz="1700" dirty="0">
                <a:solidFill>
                  <a:srgbClr val="504C49"/>
                </a:solidFill>
                <a:latin typeface="Source Serif 4" pitchFamily="34" charset="0"/>
                <a:ea typeface="Source Serif 4" pitchFamily="34" charset="-122"/>
                <a:cs typeface="Source Serif 4" pitchFamily="34" charset="-120"/>
              </a:rPr>
              <a:t>Creating dedicated connectors for UART, SPI, and I2C modules.</a:t>
            </a:r>
            <a:endParaRPr lang="en-US" sz="1700" dirty="0"/>
          </a:p>
        </p:txBody>
      </p:sp>
      <p:pic>
        <p:nvPicPr>
          <p:cNvPr id="15" name="Picture 14">
            <a:extLst>
              <a:ext uri="{FF2B5EF4-FFF2-40B4-BE49-F238E27FC236}">
                <a16:creationId xmlns:a16="http://schemas.microsoft.com/office/drawing/2014/main" id="{2F7EA45E-7D8F-315F-5836-F03A70B371BA}"/>
              </a:ext>
            </a:extLst>
          </p:cNvPr>
          <p:cNvPicPr>
            <a:picLocks noChangeAspect="1"/>
          </p:cNvPicPr>
          <p:nvPr/>
        </p:nvPicPr>
        <p:blipFill>
          <a:blip r:embed="rId5"/>
          <a:stretch>
            <a:fillRect/>
          </a:stretch>
        </p:blipFill>
        <p:spPr>
          <a:xfrm>
            <a:off x="8189771" y="2399202"/>
            <a:ext cx="6225869" cy="4360827"/>
          </a:xfrm>
          <a:prstGeom prst="rect">
            <a:avLst/>
          </a:prstGeom>
        </p:spPr>
      </p:pic>
      <p:sp>
        <p:nvSpPr>
          <p:cNvPr id="16" name="TextBox 15">
            <a:extLst>
              <a:ext uri="{FF2B5EF4-FFF2-40B4-BE49-F238E27FC236}">
                <a16:creationId xmlns:a16="http://schemas.microsoft.com/office/drawing/2014/main" id="{9F0F8E55-9161-E8B5-D45C-EDC1EACA8C0B}"/>
              </a:ext>
            </a:extLst>
          </p:cNvPr>
          <p:cNvSpPr txBox="1"/>
          <p:nvPr/>
        </p:nvSpPr>
        <p:spPr>
          <a:xfrm>
            <a:off x="12866914" y="7728857"/>
            <a:ext cx="1763486" cy="500743"/>
          </a:xfrm>
          <a:prstGeom prst="rect">
            <a:avLst/>
          </a:prstGeom>
          <a:solidFill>
            <a:schemeClr val="bg1"/>
          </a:solidFill>
        </p:spPr>
        <p:txBody>
          <a:bodyPr wrap="square" rtlCol="0">
            <a:spAutoFit/>
          </a:bodyPr>
          <a:lstStyle/>
          <a:p>
            <a:endParaRPr lang="en-US" dirty="0"/>
          </a:p>
        </p:txBody>
      </p:sp>
      <p:pic>
        <p:nvPicPr>
          <p:cNvPr id="20" name="Picture 19">
            <a:extLst>
              <a:ext uri="{FF2B5EF4-FFF2-40B4-BE49-F238E27FC236}">
                <a16:creationId xmlns:a16="http://schemas.microsoft.com/office/drawing/2014/main" id="{DA818E42-DFD3-CCAF-837A-55A8B51ECEBD}"/>
              </a:ext>
            </a:extLst>
          </p:cNvPr>
          <p:cNvPicPr>
            <a:picLocks noChangeAspect="1"/>
          </p:cNvPicPr>
          <p:nvPr/>
        </p:nvPicPr>
        <p:blipFill>
          <a:blip r:embed="rId6"/>
          <a:stretch>
            <a:fillRect/>
          </a:stretch>
        </p:blipFill>
        <p:spPr>
          <a:xfrm>
            <a:off x="775930" y="4799409"/>
            <a:ext cx="5167670" cy="334657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nvSpPr>
        <p:spPr>
          <a:xfrm>
            <a:off x="793790" y="2518648"/>
            <a:ext cx="7556421" cy="2126337"/>
          </a:xfrm>
          <a:prstGeom prst="rect">
            <a:avLst/>
          </a:prstGeom>
          <a:noFill/>
          <a:ln/>
        </p:spPr>
        <p:txBody>
          <a:bodyPr wrap="square" lIns="0" tIns="0" rIns="0" bIns="0" rtlCol="0" anchor="t"/>
          <a:lstStyle/>
          <a:p>
            <a:pPr marL="0" indent="0" algn="l">
              <a:lnSpc>
                <a:spcPts val="5550"/>
              </a:lnSpc>
              <a:buNone/>
            </a:pPr>
            <a:r>
              <a:rPr lang="en-US" sz="4450" dirty="0">
                <a:solidFill>
                  <a:srgbClr val="201B18"/>
                </a:solidFill>
                <a:latin typeface="Platypi Medium" pitchFamily="34" charset="0"/>
                <a:ea typeface="Platypi Medium" pitchFamily="34" charset="-122"/>
                <a:cs typeface="Platypi Medium" pitchFamily="34" charset="-120"/>
              </a:rPr>
              <a:t>Layout Design: Physical Constraints and Aesthetics</a:t>
            </a:r>
            <a:endParaRPr lang="en-US" sz="4450" dirty="0"/>
          </a:p>
        </p:txBody>
      </p:sp>
      <p:sp>
        <p:nvSpPr>
          <p:cNvPr id="4" name="Text 1"/>
          <p:cNvSpPr/>
          <p:nvPr/>
        </p:nvSpPr>
        <p:spPr>
          <a:xfrm>
            <a:off x="793790" y="4985147"/>
            <a:ext cx="7556421" cy="725805"/>
          </a:xfrm>
          <a:prstGeom prst="rect">
            <a:avLst/>
          </a:prstGeom>
          <a:noFill/>
          <a:ln/>
        </p:spPr>
        <p:txBody>
          <a:bodyPr wrap="square" lIns="0" tIns="0" rIns="0" bIns="0" rtlCol="0" anchor="t"/>
          <a:lstStyle/>
          <a:p>
            <a:pPr marL="0" indent="0" algn="l">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The PCB layout required careful consideration of component placement, routing, and silkscreen details.</a:t>
            </a:r>
            <a:endParaRPr lang="en-US" sz="1750" dirty="0"/>
          </a:p>
        </p:txBody>
      </p:sp>
      <p:sp>
        <p:nvSpPr>
          <p:cNvPr id="7" name="TextBox 6">
            <a:extLst>
              <a:ext uri="{FF2B5EF4-FFF2-40B4-BE49-F238E27FC236}">
                <a16:creationId xmlns:a16="http://schemas.microsoft.com/office/drawing/2014/main" id="{432F364A-3D4C-04C3-6DA3-EECC12504E84}"/>
              </a:ext>
            </a:extLst>
          </p:cNvPr>
          <p:cNvSpPr txBox="1"/>
          <p:nvPr/>
        </p:nvSpPr>
        <p:spPr>
          <a:xfrm>
            <a:off x="12866914" y="7728857"/>
            <a:ext cx="1763486" cy="500743"/>
          </a:xfrm>
          <a:prstGeom prst="rect">
            <a:avLst/>
          </a:prstGeom>
          <a:solidFill>
            <a:schemeClr val="bg1"/>
          </a:solidFill>
        </p:spPr>
        <p:txBody>
          <a:bodyPr wrap="square" rtlCol="0">
            <a:spAutoFit/>
          </a:bodyPr>
          <a:lstStyle/>
          <a:p>
            <a:endParaRPr lang="en-US" dirty="0"/>
          </a:p>
        </p:txBody>
      </p:sp>
      <p:pic>
        <p:nvPicPr>
          <p:cNvPr id="9" name="Picture 8">
            <a:extLst>
              <a:ext uri="{FF2B5EF4-FFF2-40B4-BE49-F238E27FC236}">
                <a16:creationId xmlns:a16="http://schemas.microsoft.com/office/drawing/2014/main" id="{E952CDD0-F7B0-9155-AB1B-E6D4F63C3801}"/>
              </a:ext>
            </a:extLst>
          </p:cNvPr>
          <p:cNvPicPr>
            <a:picLocks noChangeAspect="1"/>
          </p:cNvPicPr>
          <p:nvPr/>
        </p:nvPicPr>
        <p:blipFill>
          <a:blip r:embed="rId3"/>
          <a:stretch>
            <a:fillRect/>
          </a:stretch>
        </p:blipFill>
        <p:spPr>
          <a:xfrm>
            <a:off x="7576117" y="1515959"/>
            <a:ext cx="7054283" cy="532026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683068"/>
            <a:ext cx="7450098" cy="708779"/>
          </a:xfrm>
          <a:prstGeom prst="rect">
            <a:avLst/>
          </a:prstGeom>
          <a:noFill/>
          <a:ln/>
        </p:spPr>
        <p:txBody>
          <a:bodyPr wrap="none" lIns="0" tIns="0" rIns="0" bIns="0" rtlCol="0" anchor="t"/>
          <a:lstStyle/>
          <a:p>
            <a:pPr marL="0" indent="0" algn="l">
              <a:lnSpc>
                <a:spcPts val="5550"/>
              </a:lnSpc>
              <a:buNone/>
            </a:pPr>
            <a:r>
              <a:rPr lang="en-US" sz="4450" dirty="0">
                <a:solidFill>
                  <a:srgbClr val="201B18"/>
                </a:solidFill>
                <a:latin typeface="Platypi Medium" pitchFamily="34" charset="0"/>
                <a:ea typeface="Platypi Medium" pitchFamily="34" charset="-122"/>
                <a:cs typeface="Platypi Medium" pitchFamily="34" charset="-120"/>
              </a:rPr>
              <a:t>Visualizing the Final Board</a:t>
            </a:r>
            <a:endParaRPr lang="en-US" sz="4450" dirty="0"/>
          </a:p>
        </p:txBody>
      </p:sp>
      <p:sp>
        <p:nvSpPr>
          <p:cNvPr id="3" name="Text 1"/>
          <p:cNvSpPr/>
          <p:nvPr/>
        </p:nvSpPr>
        <p:spPr>
          <a:xfrm>
            <a:off x="793790" y="2845475"/>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A look at the completed design, ready for production and assembly.</a:t>
            </a:r>
            <a:endParaRPr lang="en-US" sz="1750" dirty="0"/>
          </a:p>
        </p:txBody>
      </p:sp>
      <p:pic>
        <p:nvPicPr>
          <p:cNvPr id="8" name="Picture 7">
            <a:extLst>
              <a:ext uri="{FF2B5EF4-FFF2-40B4-BE49-F238E27FC236}">
                <a16:creationId xmlns:a16="http://schemas.microsoft.com/office/drawing/2014/main" id="{0FDB5B30-F254-CA05-4E1A-C21B27C1000C}"/>
              </a:ext>
            </a:extLst>
          </p:cNvPr>
          <p:cNvPicPr>
            <a:picLocks noChangeAspect="1"/>
          </p:cNvPicPr>
          <p:nvPr/>
        </p:nvPicPr>
        <p:blipFill>
          <a:blip r:embed="rId3"/>
          <a:stretch>
            <a:fillRect/>
          </a:stretch>
        </p:blipFill>
        <p:spPr>
          <a:xfrm>
            <a:off x="0" y="3822343"/>
            <a:ext cx="6357257" cy="4407257"/>
          </a:xfrm>
          <a:prstGeom prst="rect">
            <a:avLst/>
          </a:prstGeom>
        </p:spPr>
      </p:pic>
      <p:pic>
        <p:nvPicPr>
          <p:cNvPr id="10" name="Picture 9">
            <a:extLst>
              <a:ext uri="{FF2B5EF4-FFF2-40B4-BE49-F238E27FC236}">
                <a16:creationId xmlns:a16="http://schemas.microsoft.com/office/drawing/2014/main" id="{1A97A2B0-758E-1E1C-7C03-CD6C80A4420D}"/>
              </a:ext>
            </a:extLst>
          </p:cNvPr>
          <p:cNvPicPr>
            <a:picLocks noChangeAspect="1"/>
          </p:cNvPicPr>
          <p:nvPr/>
        </p:nvPicPr>
        <p:blipFill>
          <a:blip r:embed="rId4"/>
          <a:stretch>
            <a:fillRect/>
          </a:stretch>
        </p:blipFill>
        <p:spPr>
          <a:xfrm>
            <a:off x="8494258" y="3885493"/>
            <a:ext cx="6136142" cy="434410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13172" y="481846"/>
            <a:ext cx="8281392" cy="547449"/>
          </a:xfrm>
          <a:prstGeom prst="rect">
            <a:avLst/>
          </a:prstGeom>
          <a:noFill/>
          <a:ln/>
        </p:spPr>
        <p:txBody>
          <a:bodyPr wrap="none" lIns="0" tIns="0" rIns="0" bIns="0" rtlCol="0" anchor="t"/>
          <a:lstStyle/>
          <a:p>
            <a:pPr marL="0" indent="0" algn="l">
              <a:lnSpc>
                <a:spcPts val="4300"/>
              </a:lnSpc>
              <a:buNone/>
            </a:pPr>
            <a:r>
              <a:rPr lang="en-US" sz="3400" dirty="0">
                <a:solidFill>
                  <a:srgbClr val="201B18"/>
                </a:solidFill>
                <a:latin typeface="Platypi Medium" pitchFamily="34" charset="0"/>
                <a:ea typeface="Platypi Medium" pitchFamily="34" charset="-122"/>
                <a:cs typeface="Platypi Medium" pitchFamily="34" charset="-120"/>
              </a:rPr>
              <a:t>Manufacturing Preparation: Final Files</a:t>
            </a:r>
            <a:endParaRPr lang="en-US" sz="3400" dirty="0"/>
          </a:p>
        </p:txBody>
      </p:sp>
      <p:sp>
        <p:nvSpPr>
          <p:cNvPr id="3" name="Text 1"/>
          <p:cNvSpPr/>
          <p:nvPr/>
        </p:nvSpPr>
        <p:spPr>
          <a:xfrm>
            <a:off x="613172" y="1379696"/>
            <a:ext cx="13404056" cy="280392"/>
          </a:xfrm>
          <a:prstGeom prst="rect">
            <a:avLst/>
          </a:prstGeom>
          <a:noFill/>
          <a:ln/>
        </p:spPr>
        <p:txBody>
          <a:bodyPr wrap="none" lIns="0" tIns="0" rIns="0" bIns="0" rtlCol="0" anchor="t"/>
          <a:lstStyle/>
          <a:p>
            <a:pPr marL="0" indent="0" algn="l">
              <a:lnSpc>
                <a:spcPts val="2200"/>
              </a:lnSpc>
              <a:buNone/>
            </a:pPr>
            <a:r>
              <a:rPr lang="en-US" sz="1350" dirty="0">
                <a:solidFill>
                  <a:srgbClr val="504C49"/>
                </a:solidFill>
                <a:latin typeface="Source Serif 4" pitchFamily="34" charset="0"/>
                <a:ea typeface="Source Serif 4" pitchFamily="34" charset="-122"/>
                <a:cs typeface="Source Serif 4" pitchFamily="34" charset="-120"/>
              </a:rPr>
              <a:t>The final stage involved generating the necessary files for professional PCB manufacturing.</a:t>
            </a:r>
            <a:endParaRPr lang="en-US" sz="1350" dirty="0"/>
          </a:p>
        </p:txBody>
      </p:sp>
      <p:sp>
        <p:nvSpPr>
          <p:cNvPr id="5" name="Shape 2"/>
          <p:cNvSpPr/>
          <p:nvPr/>
        </p:nvSpPr>
        <p:spPr>
          <a:xfrm>
            <a:off x="7623623" y="2852368"/>
            <a:ext cx="6488311" cy="1079659"/>
          </a:xfrm>
          <a:prstGeom prst="roundRect">
            <a:avLst>
              <a:gd name="adj" fmla="val 2434"/>
            </a:avLst>
          </a:prstGeom>
          <a:solidFill>
            <a:srgbClr val="F9F7F7"/>
          </a:solidFill>
          <a:ln/>
        </p:spPr>
        <p:txBody>
          <a:bodyPr/>
          <a:lstStyle/>
          <a:p>
            <a:endParaRPr lang="en-US"/>
          </a:p>
        </p:txBody>
      </p:sp>
      <p:sp>
        <p:nvSpPr>
          <p:cNvPr id="6" name="Text 3"/>
          <p:cNvSpPr/>
          <p:nvPr/>
        </p:nvSpPr>
        <p:spPr>
          <a:xfrm>
            <a:off x="7798764" y="3027509"/>
            <a:ext cx="2190155" cy="273844"/>
          </a:xfrm>
          <a:prstGeom prst="rect">
            <a:avLst/>
          </a:prstGeom>
          <a:noFill/>
          <a:ln/>
        </p:spPr>
        <p:txBody>
          <a:bodyPr wrap="none" lIns="0" tIns="0" rIns="0" bIns="0" rtlCol="0" anchor="t"/>
          <a:lstStyle/>
          <a:p>
            <a:pPr marL="0" indent="0" algn="l">
              <a:lnSpc>
                <a:spcPts val="2150"/>
              </a:lnSpc>
              <a:buNone/>
            </a:pPr>
            <a:r>
              <a:rPr lang="en-US" sz="1700" dirty="0">
                <a:solidFill>
                  <a:srgbClr val="504C49"/>
                </a:solidFill>
                <a:latin typeface="Platypi Medium" pitchFamily="34" charset="0"/>
                <a:ea typeface="Platypi Medium" pitchFamily="34" charset="-122"/>
                <a:cs typeface="Platypi Medium" pitchFamily="34" charset="-120"/>
              </a:rPr>
              <a:t>Gerber Files</a:t>
            </a:r>
            <a:endParaRPr lang="en-US" sz="1700" dirty="0"/>
          </a:p>
        </p:txBody>
      </p:sp>
      <p:sp>
        <p:nvSpPr>
          <p:cNvPr id="7" name="Text 4"/>
          <p:cNvSpPr/>
          <p:nvPr/>
        </p:nvSpPr>
        <p:spPr>
          <a:xfrm>
            <a:off x="7798764" y="3476494"/>
            <a:ext cx="6138029" cy="280392"/>
          </a:xfrm>
          <a:prstGeom prst="rect">
            <a:avLst/>
          </a:prstGeom>
          <a:noFill/>
          <a:ln/>
        </p:spPr>
        <p:txBody>
          <a:bodyPr wrap="none" lIns="0" tIns="0" rIns="0" bIns="0" rtlCol="0" anchor="t"/>
          <a:lstStyle/>
          <a:p>
            <a:pPr marL="0" indent="0" algn="l">
              <a:lnSpc>
                <a:spcPts val="2200"/>
              </a:lnSpc>
              <a:buNone/>
            </a:pPr>
            <a:r>
              <a:rPr lang="en-US" sz="1350" dirty="0">
                <a:solidFill>
                  <a:srgbClr val="504C49"/>
                </a:solidFill>
                <a:latin typeface="Source Serif 4" pitchFamily="34" charset="0"/>
                <a:ea typeface="Source Serif 4" pitchFamily="34" charset="-122"/>
                <a:cs typeface="Source Serif 4" pitchFamily="34" charset="-120"/>
              </a:rPr>
              <a:t>Outputting all layer data required for PCB fabrication.</a:t>
            </a:r>
            <a:endParaRPr lang="en-US" sz="1350" dirty="0"/>
          </a:p>
        </p:txBody>
      </p:sp>
      <p:sp>
        <p:nvSpPr>
          <p:cNvPr id="8" name="Shape 5"/>
          <p:cNvSpPr/>
          <p:nvPr/>
        </p:nvSpPr>
        <p:spPr>
          <a:xfrm>
            <a:off x="188680" y="2852368"/>
            <a:ext cx="6488311" cy="1079659"/>
          </a:xfrm>
          <a:prstGeom prst="roundRect">
            <a:avLst>
              <a:gd name="adj" fmla="val 2434"/>
            </a:avLst>
          </a:prstGeom>
          <a:solidFill>
            <a:srgbClr val="F9F7F7"/>
          </a:solidFill>
          <a:ln/>
        </p:spPr>
        <p:txBody>
          <a:bodyPr/>
          <a:lstStyle/>
          <a:p>
            <a:endParaRPr lang="en-US"/>
          </a:p>
        </p:txBody>
      </p:sp>
      <p:sp>
        <p:nvSpPr>
          <p:cNvPr id="9" name="Text 6"/>
          <p:cNvSpPr/>
          <p:nvPr/>
        </p:nvSpPr>
        <p:spPr>
          <a:xfrm>
            <a:off x="363821" y="3027509"/>
            <a:ext cx="2190155" cy="273844"/>
          </a:xfrm>
          <a:prstGeom prst="rect">
            <a:avLst/>
          </a:prstGeom>
          <a:noFill/>
          <a:ln/>
        </p:spPr>
        <p:txBody>
          <a:bodyPr wrap="none" lIns="0" tIns="0" rIns="0" bIns="0" rtlCol="0" anchor="t"/>
          <a:lstStyle/>
          <a:p>
            <a:pPr marL="0" indent="0" algn="l">
              <a:lnSpc>
                <a:spcPts val="2150"/>
              </a:lnSpc>
              <a:buNone/>
            </a:pPr>
            <a:r>
              <a:rPr lang="en-US" sz="1700" dirty="0">
                <a:solidFill>
                  <a:srgbClr val="504C49"/>
                </a:solidFill>
                <a:latin typeface="Platypi Medium" pitchFamily="34" charset="0"/>
                <a:ea typeface="Platypi Medium" pitchFamily="34" charset="-122"/>
                <a:cs typeface="Platypi Medium" pitchFamily="34" charset="-120"/>
              </a:rPr>
              <a:t>Drill Files</a:t>
            </a:r>
            <a:endParaRPr lang="en-US" sz="1700" dirty="0"/>
          </a:p>
        </p:txBody>
      </p:sp>
      <p:sp>
        <p:nvSpPr>
          <p:cNvPr id="10" name="Text 7"/>
          <p:cNvSpPr/>
          <p:nvPr/>
        </p:nvSpPr>
        <p:spPr>
          <a:xfrm>
            <a:off x="363821" y="3476494"/>
            <a:ext cx="6138029" cy="280392"/>
          </a:xfrm>
          <a:prstGeom prst="rect">
            <a:avLst/>
          </a:prstGeom>
          <a:noFill/>
          <a:ln/>
        </p:spPr>
        <p:txBody>
          <a:bodyPr wrap="none" lIns="0" tIns="0" rIns="0" bIns="0" rtlCol="0" anchor="t"/>
          <a:lstStyle/>
          <a:p>
            <a:pPr marL="0" indent="0" algn="l">
              <a:lnSpc>
                <a:spcPts val="2200"/>
              </a:lnSpc>
              <a:buNone/>
            </a:pPr>
            <a:r>
              <a:rPr lang="en-US" sz="1350" dirty="0">
                <a:solidFill>
                  <a:srgbClr val="504C49"/>
                </a:solidFill>
                <a:latin typeface="Source Serif 4" pitchFamily="34" charset="0"/>
                <a:ea typeface="Source Serif 4" pitchFamily="34" charset="-122"/>
                <a:cs typeface="Source Serif 4" pitchFamily="34" charset="-120"/>
              </a:rPr>
              <a:t>Generating precise drill information for component holes and vias.</a:t>
            </a:r>
            <a:endParaRPr lang="en-US" sz="1350" dirty="0"/>
          </a:p>
        </p:txBody>
      </p:sp>
      <p:pic>
        <p:nvPicPr>
          <p:cNvPr id="12" name="Picture 11">
            <a:extLst>
              <a:ext uri="{FF2B5EF4-FFF2-40B4-BE49-F238E27FC236}">
                <a16:creationId xmlns:a16="http://schemas.microsoft.com/office/drawing/2014/main" id="{52110362-E73E-7080-6AF3-5818E330E47A}"/>
              </a:ext>
            </a:extLst>
          </p:cNvPr>
          <p:cNvPicPr>
            <a:picLocks noChangeAspect="1"/>
          </p:cNvPicPr>
          <p:nvPr/>
        </p:nvPicPr>
        <p:blipFill>
          <a:blip r:embed="rId3"/>
          <a:stretch>
            <a:fillRect/>
          </a:stretch>
        </p:blipFill>
        <p:spPr>
          <a:xfrm>
            <a:off x="823144" y="4213503"/>
            <a:ext cx="4788033" cy="3374423"/>
          </a:xfrm>
          <a:prstGeom prst="rect">
            <a:avLst/>
          </a:prstGeom>
        </p:spPr>
      </p:pic>
      <p:pic>
        <p:nvPicPr>
          <p:cNvPr id="14" name="Picture 13">
            <a:extLst>
              <a:ext uri="{FF2B5EF4-FFF2-40B4-BE49-F238E27FC236}">
                <a16:creationId xmlns:a16="http://schemas.microsoft.com/office/drawing/2014/main" id="{A62D2FCF-E544-D3D8-7525-72E67E7167F2}"/>
              </a:ext>
            </a:extLst>
          </p:cNvPr>
          <p:cNvPicPr>
            <a:picLocks noChangeAspect="1"/>
          </p:cNvPicPr>
          <p:nvPr/>
        </p:nvPicPr>
        <p:blipFill>
          <a:blip r:embed="rId4"/>
          <a:stretch>
            <a:fillRect/>
          </a:stretch>
        </p:blipFill>
        <p:spPr>
          <a:xfrm>
            <a:off x="8175415" y="4167843"/>
            <a:ext cx="5384726" cy="3420083"/>
          </a:xfrm>
          <a:prstGeom prst="rect">
            <a:avLst/>
          </a:prstGeom>
        </p:spPr>
      </p:pic>
      <p:sp>
        <p:nvSpPr>
          <p:cNvPr id="15" name="TextBox 14">
            <a:extLst>
              <a:ext uri="{FF2B5EF4-FFF2-40B4-BE49-F238E27FC236}">
                <a16:creationId xmlns:a16="http://schemas.microsoft.com/office/drawing/2014/main" id="{7D0DE88F-6742-F43A-B283-008450EDEA7A}"/>
              </a:ext>
            </a:extLst>
          </p:cNvPr>
          <p:cNvSpPr txBox="1"/>
          <p:nvPr/>
        </p:nvSpPr>
        <p:spPr>
          <a:xfrm>
            <a:off x="12866914" y="7728857"/>
            <a:ext cx="1763486" cy="500743"/>
          </a:xfrm>
          <a:prstGeom prst="rect">
            <a:avLst/>
          </a:prstGeom>
          <a:solidFill>
            <a:schemeClr val="bg1"/>
          </a:solidFill>
        </p:spPr>
        <p:txBody>
          <a:bodyPr wrap="square" rtlCol="0">
            <a:spAutoFit/>
          </a:bodyPr>
          <a:lstStyle/>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17" name="Text 0">
            <a:extLst>
              <a:ext uri="{FF2B5EF4-FFF2-40B4-BE49-F238E27FC236}">
                <a16:creationId xmlns:a16="http://schemas.microsoft.com/office/drawing/2014/main" id="{DEDBA0DD-7842-BE53-1F5D-0D26F4C6C67B}"/>
              </a:ext>
            </a:extLst>
          </p:cNvPr>
          <p:cNvSpPr/>
          <p:nvPr/>
        </p:nvSpPr>
        <p:spPr>
          <a:xfrm>
            <a:off x="3439019" y="3712028"/>
            <a:ext cx="7450098" cy="708779"/>
          </a:xfrm>
          <a:prstGeom prst="rect">
            <a:avLst/>
          </a:prstGeom>
          <a:noFill/>
          <a:ln/>
        </p:spPr>
        <p:txBody>
          <a:bodyPr wrap="none" lIns="0" tIns="0" rIns="0" bIns="0" rtlCol="0" anchor="t"/>
          <a:lstStyle/>
          <a:p>
            <a:pPr marL="0" indent="0" algn="l">
              <a:lnSpc>
                <a:spcPts val="5550"/>
              </a:lnSpc>
              <a:buNone/>
            </a:pPr>
            <a:r>
              <a:rPr lang="en-US" sz="4450" dirty="0">
                <a:solidFill>
                  <a:srgbClr val="201B18"/>
                </a:solidFill>
                <a:latin typeface="Platypi Medium" pitchFamily="34" charset="0"/>
                <a:ea typeface="Platypi Medium" pitchFamily="34" charset="-122"/>
                <a:cs typeface="Platypi Medium" pitchFamily="34" charset="-120"/>
              </a:rPr>
              <a:t>Thank You For Listening!</a:t>
            </a:r>
            <a:endParaRPr lang="en-US" sz="4450" dirty="0"/>
          </a:p>
        </p:txBody>
      </p:sp>
      <p:sp>
        <p:nvSpPr>
          <p:cNvPr id="18" name="TextBox 17">
            <a:extLst>
              <a:ext uri="{FF2B5EF4-FFF2-40B4-BE49-F238E27FC236}">
                <a16:creationId xmlns:a16="http://schemas.microsoft.com/office/drawing/2014/main" id="{FCED2F03-54E4-8189-9AF7-CD670C36BBC9}"/>
              </a:ext>
            </a:extLst>
          </p:cNvPr>
          <p:cNvSpPr txBox="1"/>
          <p:nvPr/>
        </p:nvSpPr>
        <p:spPr>
          <a:xfrm>
            <a:off x="12866914" y="7728857"/>
            <a:ext cx="1763486" cy="500743"/>
          </a:xfrm>
          <a:prstGeom prst="rect">
            <a:avLst/>
          </a:prstGeom>
          <a:solidFill>
            <a:schemeClr val="bg1"/>
          </a:solidFill>
        </p:spPr>
        <p:txBody>
          <a:bodyPr wrap="square" rtlCol="0">
            <a:spAutoFit/>
          </a:bodyPr>
          <a:lstStyle/>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323</TotalTime>
  <Words>393</Words>
  <Application>Microsoft Office PowerPoint</Application>
  <PresentationFormat>Custom</PresentationFormat>
  <Paragraphs>51</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Platypi Medium</vt:lpstr>
      <vt:lpstr>Source Serif 4</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Omar Mohammed Atef Mohammed</cp:lastModifiedBy>
  <cp:revision>3</cp:revision>
  <dcterms:created xsi:type="dcterms:W3CDTF">2025-11-03T08:52:03Z</dcterms:created>
  <dcterms:modified xsi:type="dcterms:W3CDTF">2025-11-06T14:38:43Z</dcterms:modified>
</cp:coreProperties>
</file>